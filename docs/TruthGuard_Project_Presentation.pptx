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17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Respected evaluation committee members and my project supervisor, Dr. Suja Golden Shiny.</a:t>
            </a:r>
          </a:p>
          <a:p>
            <a:r>
              <a:t>My name is Bharathram K, registration number E0324006. Today, I am defending my B.Tech capstone project:</a:t>
            </a:r>
          </a:p>
          <a:p>
            <a:r>
              <a:t>'TruthGuard: An Explainable Framework for Hallucination Detection, Evidence Verification, and Evidence-Grounded Automatic Correction in LLM Responses.'</a:t>
            </a:r>
          </a:p>
          <a:p>
            <a:endParaRPr/>
          </a:p>
          <a:p>
            <a:r>
              <a:t>Large Language Models have redefined generative AI, but their tendency to produce ungrounded assertions poses critical challenges.</a:t>
            </a:r>
          </a:p>
          <a:p>
            <a:r>
              <a:t>TruthGuard provides an end-to-end NLP framework that inspects language models at the atomic claim level, retrieves factual evidence,</a:t>
            </a:r>
          </a:p>
          <a:p>
            <a:r>
              <a:t>arbitrates truth via cross-encoder Natural Language Inference, and executes closed-loop self-correction.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presents our project abstract.</a:t>
            </a:r>
          </a:p>
          <a:p>
            <a:r>
              <a:t>The fundamental problem we address is that autoregressive models generate fluent but ungrounded text.</a:t>
            </a:r>
          </a:p>
          <a:p>
            <a:r>
              <a:t>Rather than treating LLM verification as a monolithic black-box judgment, TruthGuard breaks answers down into atomic propositions.</a:t>
            </a:r>
          </a:p>
          <a:p>
            <a:r>
              <a:t>By uniting dense vector search, BM25 keyword matching, cross-encoder NLI, and a closed-loop correction audit,</a:t>
            </a:r>
          </a:p>
          <a:p>
            <a:r>
              <a:t>the system aims to provide verifiable citations and proven factual grounding on local consumer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Slide 3, we detail the core problem: fluency is not factuality.</a:t>
            </a:r>
          </a:p>
          <a:p>
            <a:r>
              <a:t>Consider the example generated statement: 'The James Webb Space Telescope took the very first direct pictures of an exoplanet in 1995, revealing Kepler-186f.'</a:t>
            </a:r>
          </a:p>
          <a:p>
            <a:r>
              <a:t>This single sentence blends three distinct factual falsehoods: the telescope's launch year, the date of the first exoplanet photograph, and the discovery method of Kepler-186f.</a:t>
            </a:r>
          </a:p>
          <a:p>
            <a:r>
              <a:t>Because autoregressive language models optimize for token probability rather than empirical truth, they fail silently.</a:t>
            </a:r>
          </a:p>
          <a:p>
            <a:r>
              <a:t>Assessing the paragraph as a whole masks these granular falsehoods.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details our research objectives and the critical gaps in existing literature.</a:t>
            </a:r>
          </a:p>
          <a:p>
            <a:r>
              <a:t>Traditional LLM-as-a-judge setups suffer from opacity and prompt-level hallucinations.</a:t>
            </a:r>
          </a:p>
          <a:p>
            <a:r>
              <a:t>Pure dense embeddings miss rare named entities, and bi-encoders struggle with subtle negations.</a:t>
            </a:r>
          </a:p>
          <a:p>
            <a:r>
              <a:t>TruthGuard formulates four core objectives:</a:t>
            </a:r>
          </a:p>
          <a:p>
            <a:r>
              <a:t>1. Syntactic atomic claim decomposition with character-span tracking.</a:t>
            </a:r>
          </a:p>
          <a:p>
            <a:r>
              <a:t>2. Hybrid FAISS dense plus BM25 keyword retrieval.</a:t>
            </a:r>
          </a:p>
          <a:p>
            <a:r>
              <a:t>3. Cross-encoder NLI arbitration with calibrated thresholds.</a:t>
            </a:r>
          </a:p>
          <a:p>
            <a:r>
              <a:t>4. Closed-loop reverification to eliminate the secondary hallucination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walks through the proposed methodology across seven ordered stages:</a:t>
            </a:r>
          </a:p>
          <a:p>
            <a:r>
              <a:t>1. Ingest input queries and model outputs.</a:t>
            </a:r>
          </a:p>
          <a:p>
            <a:r>
              <a:t>2. Decompose text into atomic propositions.</a:t>
            </a:r>
          </a:p>
          <a:p>
            <a:r>
              <a:t>3. Map exact character spans.</a:t>
            </a:r>
          </a:p>
          <a:p>
            <a:r>
              <a:t>4. Execute hybrid FAISS and BM25 retrieval.</a:t>
            </a:r>
          </a:p>
          <a:p>
            <a:r>
              <a:t>5. Infer entailment, contradiction, and neutral probabilities via cross-encoder.</a:t>
            </a:r>
          </a:p>
          <a:p>
            <a:r>
              <a:t>6. Arbitrate evidence into calibrated verdicts and risk scores.</a:t>
            </a:r>
          </a:p>
          <a:p>
            <a:r>
              <a:t>7. Perform evidence-grounded correction followed by mandatory re-verification.</a:t>
            </a:r>
          </a:p>
          <a:p>
            <a:r>
              <a:t>This ensures a transparent, reproducible, and verifiable operational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illustrates TruthGuard's complete system architecture using native, editable flowchart elements.</a:t>
            </a:r>
          </a:p>
          <a:p>
            <a:r>
              <a:t>The architecture cleanly decouples offline knowledge indexing from real-time online verification.</a:t>
            </a:r>
          </a:p>
          <a:p>
            <a:r>
              <a:t>In the offline phase, documents are chunked and converted into 384-dimensional unit vectors stored in FAISS and BM25.</a:t>
            </a:r>
          </a:p>
          <a:p>
            <a:r>
              <a:t>In the online phase, input answers pass through claim extraction, hybrid search, DeBERTa-v3 cross-encoder inference,</a:t>
            </a:r>
          </a:p>
          <a:p>
            <a:r>
              <a:t>evidence aggregation, grounded correction, and a final reverification audit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demonstrates atomic claim decomposition.</a:t>
            </a:r>
          </a:p>
          <a:p>
            <a:r>
              <a:t>Consider the sentence: 'Marie Curie discovered radium in 1898 and won the Nobel Prize in Literature.'</a:t>
            </a:r>
          </a:p>
          <a:p>
            <a:r>
              <a:t>Its total length is 76 characters.</a:t>
            </a:r>
          </a:p>
          <a:p>
            <a:r>
              <a:t>The syntactic parser identifies the coordinating conjunction 'and', splitting the sentence into two propositions.</a:t>
            </a:r>
          </a:p>
          <a:p>
            <a:r>
              <a:t>It logs character indices [0:37] for the first proposition and [42:75] for the second.</a:t>
            </a:r>
          </a:p>
          <a:p>
            <a:r>
              <a:t>By verifying each proposition independently, we determine that Claim 1 is Supported, while Claim 2 is Contradicted.</a:t>
            </a:r>
          </a:p>
          <a:p>
            <a:r>
              <a:t>This pinpoint tracking allows targeted correction without corrupting verified factual clauses.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describes our evidence retrieval pipeline.</a:t>
            </a:r>
          </a:p>
          <a:p>
            <a:r>
              <a:t>We chunk reference documents into 500-character segments with 100-character overlaps.</a:t>
            </a:r>
          </a:p>
          <a:p>
            <a:r>
              <a:t>Chunks are embedded into a 384-dimensional space using all-MiniLM-L6-v2 and normalized so that FAISS IndexFlatIP computes exact cosine similarity.</a:t>
            </a:r>
          </a:p>
          <a:p>
            <a:r>
              <a:t>Simultaneously, chunks are indexed using Okapi BM25 with k1=1.5 and b=0.75.</a:t>
            </a:r>
          </a:p>
          <a:p>
            <a:r>
              <a:t>A convex combination with alpha=0.65 merges semantic and keyword scores, pruning candidates below 0.25 similarity.</a:t>
            </a:r>
          </a:p>
          <a:p>
            <a:r>
              <a:t>Crucially, every passage tracks complete document, page, and chunk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explains NLI verification and evidence arbitration.</a:t>
            </a:r>
          </a:p>
          <a:p>
            <a:r>
              <a:t>Unlike bi-encoders that encode sentences separately, our cross-encoder passes the premise and hypothesis jointly through self-attention layers.</a:t>
            </a:r>
          </a:p>
          <a:p>
            <a:r>
              <a:t>This allows the model to capture syntactic dependencies and negations.</a:t>
            </a:r>
          </a:p>
          <a:p>
            <a:r>
              <a:t>The logits are passed through a softmax layer to output probabilities for entailment, contradiction, and neutral.</a:t>
            </a:r>
          </a:p>
          <a:p>
            <a:r>
              <a:t>Our evidence aggregator enforces strict decision thresholds: 0.55 for entailment and 0.50 for contradiction.</a:t>
            </a:r>
          </a:p>
          <a:p>
            <a:r>
              <a:t>We explicitly distinguish calibrated model confidence from uncalibrated operational error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details TruthGuard's closed-loop correction and re-verification engine.</a:t>
            </a:r>
          </a:p>
          <a:p>
            <a:r>
              <a:t>Unconstrained editing prompts frequently introduce secondary hallucinations.</a:t>
            </a:r>
          </a:p>
          <a:p>
            <a:r>
              <a:t>TruthGuard eliminates this by enforcing a 4-rule revision contract:</a:t>
            </a:r>
          </a:p>
          <a:p>
            <a:r>
              <a:t>Supported facts are preserved verbatim, contradicted assertions are rewritten using the cited ground truth, and unverified claims are pruned.</a:t>
            </a:r>
          </a:p>
          <a:p>
            <a:r>
              <a:t>The revised text is immediately re-submitted to the verification service for a second pass.</a:t>
            </a:r>
          </a:p>
          <a:p>
            <a:r>
              <a:t>As shown in our Apollo 11 trace, the output is certified only when re-verification confirms zero remaining contradictions.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summarizes the project's verified capabilities and outlines future extensions.</a:t>
            </a:r>
          </a:p>
          <a:p>
            <a:r>
              <a:t>We have demonstrated fine-grained claim extraction, hybrid FAISS retrieval, calibrated NLI arbitration, and closed-loop reverification.</a:t>
            </a:r>
          </a:p>
          <a:p>
            <a:r>
              <a:t>We openly acknowledge our system's boundaries: single-hop evidence processing and static thresholds.</a:t>
            </a:r>
          </a:p>
          <a:p>
            <a:r>
              <a:t>Our future research roadmap targets Graph-RAG multi-hop reasoning, dynamic conformal prediction, and ONNX quantization to achieve sub-100ms inference.</a:t>
            </a:r>
          </a:p>
          <a:p>
            <a:r>
              <a:t>Separating verified capabilities from future extensions demonstrates scientific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provides verified bibliographic references for the core foundational works supporting TruthGuard:</a:t>
            </a:r>
          </a:p>
          <a:p>
            <a:r>
              <a:t>Thorne et al. for the FEVER benchmark, Li et al. for HaluEval, Johnson et al. for FAISS similarity search,</a:t>
            </a:r>
          </a:p>
          <a:p>
            <a:r>
              <a:t>Reimers &amp; Gurevych for Sentence-BERT embeddings, He et al. for DeBERTa cross-encoder attention,</a:t>
            </a:r>
          </a:p>
          <a:p>
            <a:r>
              <a:t>and Ji et al. for the comprehensive ACM survey on hallucinations in natural language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Slide 15 marks the end of our defense presentation.</a:t>
            </a:r>
          </a:p>
          <a:p>
            <a:r>
              <a:t>TruthGuard proves that explainable, claim-level hallucination detection and closed-loop self-correction can be executed reliably on consumer hardware without proprietary APIs.</a:t>
            </a:r>
          </a:p>
          <a:p>
            <a:r>
              <a:t>I express my deepest gratitude to my supervisor, Dr. Suja Golden Shiny, and to the defense committee for your guidance and evaluation.</a:t>
            </a:r>
          </a:p>
          <a:p>
            <a:r>
              <a:t>I am now open to your questions, critiques, and discussion.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B.TECH CAPSTONE PROJECT DEFENSE // ARTIFICIAL INTELLIGENCE &amp; DATA ANALYTICS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Calibri"/>
              </a:defRPr>
            </a:pPr>
            <a:r>
              <a:rPr dirty="0"/>
              <a:t>TRUTHGUARD</a:t>
            </a:r>
          </a:p>
          <a:p>
            <a:pPr>
              <a:defRPr sz="1600" b="1">
                <a:solidFill>
                  <a:srgbClr val="0284C7"/>
                </a:solidFill>
                <a:latin typeface="Calibri"/>
              </a:defRPr>
            </a:pPr>
            <a:r>
              <a:rPr dirty="0"/>
              <a:t>An Explainable Framework for Hallucination Detection, Evidence Verification, and Evidence-Grounded Automatic Correction in LLM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Calibri"/>
              </a:defRPr>
            </a:pPr>
            <a:r>
              <a:rPr dirty="0"/>
              <a:t>A claim-level natural language processing framework providing token-level provenance, calibrated cross-encoder arbitration, and closed-loop self-correction.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245059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/>
          <p:cNvSpPr txBox="1"/>
          <p:nvPr/>
        </p:nvSpPr>
        <p:spPr>
          <a:xfrm>
            <a:off x="1097280" y="3639312"/>
            <a:ext cx="20848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rPr sz="1400"/>
              <a:t>CANDIDATE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rPr sz="1400"/>
              <a:t>Bharathram K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/>
              <a:t>Reg. No: E0324006</a:t>
            </a:r>
            <a:br>
              <a:rPr sz="1400"/>
            </a:br>
            <a:r>
              <a:rPr sz="1400"/>
              <a:t>B.Tech CSE (AIDA)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7872" y="3474720"/>
            <a:ext cx="245059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3730752" y="3639312"/>
            <a:ext cx="20848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rPr sz="1400"/>
              <a:t>SUPERVISOR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rPr sz="1400"/>
              <a:t>Dr. Suja Golden Shiny 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/>
              <a:t>Associate Professor</a:t>
            </a:r>
            <a:br>
              <a:rPr sz="1400"/>
            </a:br>
            <a:r>
              <a:rPr sz="1400"/>
              <a:t>Dept. of CSE (AIDA)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3474720"/>
            <a:ext cx="245059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6364224" y="3639312"/>
            <a:ext cx="20848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rPr sz="1400"/>
              <a:t>INSTITUTION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rPr sz="1400"/>
              <a:t>SRIHER (Deemed Univ.)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/>
              <a:t>Faculty of Engineering &amp; Tech</a:t>
            </a:r>
            <a:br>
              <a:rPr sz="1400"/>
            </a:br>
            <a:r>
              <a:rPr sz="1400"/>
              <a:t>Porur, Chennai - 600116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14816" y="3474720"/>
            <a:ext cx="2450592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8997696" y="3639312"/>
            <a:ext cx="20848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rPr sz="1400"/>
              <a:t>SPECIFICATION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rPr sz="1400"/>
              <a:t>Research Architecture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400"/>
              <a:t>Hybrid BM25 + FAISS Vector Index</a:t>
            </a:r>
            <a:br>
              <a:rPr sz="1400"/>
            </a:br>
            <a:r>
              <a:rPr sz="1400"/>
              <a:t>DeBERTa-v3 NLI + Closed-Loop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Sri Ramachandra Institute of Higher Education and Research  |  Academic Defense Presentation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EXECUTIVE SUMMARY // RESEARCH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sz="1400" dirty="0"/>
              <a:t>Addressing ungrounded language model generation through fine-grained verification and self-correction.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2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175504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00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71830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700" dirty="0"/>
              <a:t>01. THE PROBLEM</a:t>
            </a:r>
            <a:endParaRPr lang="en-IN" sz="1700"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en-IN" sz="1700" dirty="0">
                <a:solidFill>
                  <a:srgbClr val="475569"/>
                </a:solidFill>
                <a:cs typeface="Times New Roman" panose="02020603050405020304" pitchFamily="18" charset="0"/>
              </a:rPr>
              <a:t>AI models can generate answers that sound correct but contain false or unsupported information. </a:t>
            </a:r>
            <a:r>
              <a:rPr lang="en-IN" sz="1700" dirty="0" err="1">
                <a:solidFill>
                  <a:srgbClr val="475569"/>
                </a:solidFill>
                <a:cs typeface="Times New Roman" panose="02020603050405020304" pitchFamily="18" charset="0"/>
              </a:rPr>
              <a:t>TruthGuard</a:t>
            </a:r>
            <a:r>
              <a:rPr lang="en-IN" sz="1700" dirty="0">
                <a:solidFill>
                  <a:srgbClr val="475569"/>
                </a:solidFill>
                <a:cs typeface="Times New Roman" panose="02020603050405020304" pitchFamily="18" charset="0"/>
              </a:rPr>
              <a:t> aims to identify these errors before users rely on the answers.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en-US" sz="1700" dirty="0"/>
          </a:p>
        </p:txBody>
      </p:sp>
      <p:sp>
        <p:nvSpPr>
          <p:cNvPr id="11" name="Rectangle 10"/>
          <p:cNvSpPr/>
          <p:nvPr/>
        </p:nvSpPr>
        <p:spPr>
          <a:xfrm>
            <a:off x="6272784" y="1645920"/>
            <a:ext cx="5175504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00"/>
          </a:p>
        </p:txBody>
      </p:sp>
      <p:sp>
        <p:nvSpPr>
          <p:cNvPr id="12" name="TextBox 11"/>
          <p:cNvSpPr txBox="1"/>
          <p:nvPr/>
        </p:nvSpPr>
        <p:spPr>
          <a:xfrm>
            <a:off x="6501384" y="1828800"/>
            <a:ext cx="471830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700" dirty="0"/>
              <a:t>02. THE APPROACH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en-IN" sz="1700" dirty="0" err="1">
                <a:solidFill>
                  <a:srgbClr val="475569"/>
                </a:solidFill>
              </a:rPr>
              <a:t>TruthGuard</a:t>
            </a:r>
            <a:r>
              <a:rPr lang="en-IN" sz="1700" dirty="0">
                <a:solidFill>
                  <a:srgbClr val="475569"/>
                </a:solidFill>
              </a:rPr>
              <a:t> breaks an answer into smaller factual claims, searches for relevant evidence, and checks whether each claim is supported, contradicted, or uncertain.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sz="1700" dirty="0"/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175504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19"/>
            <a:ext cx="471830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700" dirty="0"/>
              <a:t>03. </a:t>
            </a:r>
            <a:r>
              <a:rPr lang="en-IN" sz="1700" b="1" dirty="0">
                <a:solidFill>
                  <a:srgbClr val="0284C7"/>
                </a:solidFill>
              </a:rPr>
              <a:t>HOW IT WORKS</a:t>
            </a:r>
            <a:endParaRPr sz="1700"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en-IN" sz="1700" dirty="0">
                <a:solidFill>
                  <a:srgbClr val="475569"/>
                </a:solidFill>
              </a:rPr>
              <a:t>The system uses FAISS to find relevant information and an NLI model to compare each claim with the retrieved evidence. It can then correct questionable claims using the available evidence.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sz="1700" dirty="0"/>
          </a:p>
        </p:txBody>
      </p:sp>
      <p:sp>
        <p:nvSpPr>
          <p:cNvPr id="15" name="Rectangle 14"/>
          <p:cNvSpPr/>
          <p:nvPr/>
        </p:nvSpPr>
        <p:spPr>
          <a:xfrm>
            <a:off x="6272784" y="3977639"/>
            <a:ext cx="5175504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6501384" y="4160519"/>
            <a:ext cx="471830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700" dirty="0"/>
              <a:t>04. </a:t>
            </a:r>
            <a:r>
              <a:rPr lang="en-IN" sz="1700" b="1" dirty="0">
                <a:solidFill>
                  <a:srgbClr val="0284C7"/>
                </a:solidFill>
              </a:rPr>
              <a:t>THE EXPECTED OUTCOME</a:t>
            </a:r>
            <a:endParaRPr sz="1700"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en-IN" sz="1700" dirty="0" err="1">
                <a:solidFill>
                  <a:srgbClr val="475569"/>
                </a:solidFill>
              </a:rPr>
              <a:t>TruthGuard</a:t>
            </a:r>
            <a:r>
              <a:rPr lang="en-IN" sz="1700" dirty="0">
                <a:solidFill>
                  <a:srgbClr val="475569"/>
                </a:solidFill>
              </a:rPr>
              <a:t> aims to make AI answers easier to verify by showing the evidence behind each decision and checking the corrected answer again.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PROBLEM FORMULATION // MOTIVATION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Problem Statement: Fluency is Not Factuality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lang="en-IN" sz="1400" dirty="0">
                <a:solidFill>
                  <a:srgbClr val="475569"/>
                </a:solidFill>
                <a:latin typeface="Calibri"/>
              </a:rPr>
              <a:t>AI-generated answers can sound convincing while containing incorrect information</a:t>
            </a:r>
            <a:r>
              <a:rPr sz="14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3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175504" cy="227425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00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71830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n-US" sz="1700" b="1" dirty="0">
                <a:solidFill>
                  <a:srgbClr val="0284C7"/>
                </a:solidFill>
              </a:rPr>
              <a:t>THE PROBLEM</a:t>
            </a:r>
            <a:endParaRPr lang="en-US" sz="1700"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lang="en-US" sz="1700" dirty="0"/>
              <a:t>•  </a:t>
            </a:r>
            <a:r>
              <a:rPr lang="en-US" sz="1700" dirty="0">
                <a:solidFill>
                  <a:srgbClr val="475569"/>
                </a:solidFill>
              </a:rPr>
              <a:t>AI models can generate incorrect facts</a:t>
            </a:r>
            <a:r>
              <a:rPr lang="en-US" sz="1700" dirty="0"/>
              <a:t>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lang="en-US" sz="1700" dirty="0"/>
              <a:t>•  </a:t>
            </a:r>
            <a:r>
              <a:rPr lang="en-US" sz="1700" dirty="0">
                <a:solidFill>
                  <a:srgbClr val="475569"/>
                </a:solidFill>
              </a:rPr>
              <a:t>Responses may mix correct and false claims.</a:t>
            </a:r>
            <a:endParaRPr lang="en-US" sz="1700"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lang="en-US" sz="1700" dirty="0"/>
              <a:t>•  </a:t>
            </a:r>
            <a:r>
              <a:rPr lang="en-US" sz="1700" dirty="0">
                <a:solidFill>
                  <a:srgbClr val="475569"/>
                </a:solidFill>
              </a:rPr>
              <a:t>Fluent language does not guarantee accuracy.</a:t>
            </a:r>
            <a:endParaRPr lang="en-IN" sz="1700" dirty="0">
              <a:solidFill>
                <a:srgbClr val="475569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72784" y="1645920"/>
            <a:ext cx="5175504" cy="22860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501384" y="1828800"/>
            <a:ext cx="47183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rPr lang="en-IN" sz="1600" b="1" dirty="0">
                <a:solidFill>
                  <a:srgbClr val="DC2626"/>
                </a:solidFill>
              </a:rPr>
              <a:t>A SIMPLE EXAMPLE</a:t>
            </a:r>
            <a:endParaRPr sz="1600" dirty="0"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AI-generated answer</a:t>
            </a:r>
            <a:r>
              <a:rPr sz="1600" dirty="0"/>
              <a:t>:</a:t>
            </a:r>
            <a:endParaRPr lang="en-IN" sz="1600" dirty="0"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“Marie Curie was born in </a:t>
            </a:r>
            <a:r>
              <a:rPr lang="en-IN" sz="1600" b="1" dirty="0">
                <a:solidFill>
                  <a:srgbClr val="FF0000"/>
                </a:solidFill>
              </a:rPr>
              <a:t>Paris</a:t>
            </a:r>
            <a:r>
              <a:rPr lang="en-IN" sz="1600" b="1" dirty="0">
                <a:solidFill>
                  <a:srgbClr val="0F172A"/>
                </a:solidFill>
              </a:rPr>
              <a:t> in 1867.”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Verified fact: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“Marie Curie was born in </a:t>
            </a:r>
            <a:r>
              <a:rPr lang="en-IN" sz="1600" b="1" dirty="0">
                <a:solidFill>
                  <a:schemeClr val="accent2"/>
                </a:solidFill>
              </a:rPr>
              <a:t>Warsaw, Poland</a:t>
            </a:r>
            <a:r>
              <a:rPr lang="en-IN" sz="1600" b="1" dirty="0">
                <a:solidFill>
                  <a:srgbClr val="0F172A"/>
                </a:solidFill>
              </a:rPr>
              <a:t>, in 1867.”</a:t>
            </a:r>
            <a:endParaRPr sz="1600" dirty="0"/>
          </a:p>
        </p:txBody>
      </p:sp>
      <p:sp>
        <p:nvSpPr>
          <p:cNvPr id="13" name="Rectangle 12"/>
          <p:cNvSpPr/>
          <p:nvPr/>
        </p:nvSpPr>
        <p:spPr>
          <a:xfrm>
            <a:off x="731672" y="4114885"/>
            <a:ext cx="10728655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914552" y="4178893"/>
            <a:ext cx="10362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lang="en-IN" sz="1600" b="1" dirty="0">
                <a:solidFill>
                  <a:srgbClr val="0284C7"/>
                </a:solidFill>
              </a:rPr>
              <a:t>WHY TRUTHGUARD?</a:t>
            </a:r>
            <a:endParaRPr lang="en-IN" sz="1600" dirty="0"/>
          </a:p>
          <a:p>
            <a:pPr>
              <a:defRPr sz="1150">
                <a:solidFill>
                  <a:srgbClr val="0F172A"/>
                </a:solidFill>
              </a:defRPr>
            </a:pPr>
            <a:r>
              <a:rPr lang="en-IN" sz="1600" dirty="0">
                <a:solidFill>
                  <a:srgbClr val="0F172A"/>
                </a:solidFill>
              </a:rPr>
              <a:t>Checking an entire answer may overlook individual factual errors. </a:t>
            </a:r>
            <a:r>
              <a:rPr lang="en-IN" sz="1600" dirty="0" err="1">
                <a:solidFill>
                  <a:srgbClr val="0F172A"/>
                </a:solidFill>
              </a:rPr>
              <a:t>TruthGuard</a:t>
            </a:r>
            <a:r>
              <a:rPr lang="en-IN" sz="1600" dirty="0">
                <a:solidFill>
                  <a:srgbClr val="0F172A"/>
                </a:solidFill>
              </a:rPr>
              <a:t> verifies claims separately against retrieved evidence and identifies supported, contradicted, and unverifiable claims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LITERATURE ANALYSIS // OBJECTIVES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Research Objectives &amp; Critical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sz="1500"/>
              <a:t>Addressing the fundamental limitations of conventional verification approaches.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4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19"/>
            <a:ext cx="5175504" cy="397540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71830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rPr lang="en-IN" sz="1600" b="1" dirty="0">
                <a:solidFill>
                  <a:srgbClr val="DC2626"/>
                </a:solidFill>
              </a:rPr>
              <a:t>EXISTING CHALLENGES</a:t>
            </a:r>
            <a:endParaRPr lang="en-IN" sz="1600" dirty="0"/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Whole-answer checking</a:t>
            </a:r>
            <a:r>
              <a:rPr lang="en-IN" sz="1600" dirty="0"/>
              <a:t>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Checking a complete response can hide individual false claims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Finding relevant evidence</a:t>
            </a:r>
            <a:r>
              <a:rPr sz="1600" dirty="0"/>
              <a:t>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A search system may retrieve passages that are related but do not actually verify a claim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Explaining decisions</a:t>
            </a:r>
            <a:r>
              <a:rPr sz="1600" dirty="0"/>
              <a:t>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A final verdict is difficult to trust when the supporting evidence is not shown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Safe correction</a:t>
            </a:r>
            <a:r>
              <a:rPr sz="1600" dirty="0"/>
              <a:t>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Changing an incorrect answer can introduce new errors if the correction is not checked again</a:t>
            </a:r>
            <a:r>
              <a:rPr sz="16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645920"/>
            <a:ext cx="5175504" cy="39754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501384" y="1828800"/>
            <a:ext cx="471830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TRUTHGUARD OBJECTIVES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1. Check individual claims</a:t>
            </a:r>
            <a:r>
              <a:rPr sz="1600" dirty="0"/>
              <a:t>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Break answers into smaller factual statements that can be verified separately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2. Retrieve evidence</a:t>
            </a:r>
            <a:r>
              <a:rPr sz="1600" dirty="0"/>
              <a:t>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Use FAISS-based semantic search to find relevant passages from the available evidence corpus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3. Verify each claim</a:t>
            </a:r>
            <a:r>
              <a:rPr sz="1600" dirty="0"/>
              <a:t>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Use Natural Language Inference (NLI) to classify claims as Supported, Contradicted, or Insufficient Evidence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600" b="1" dirty="0">
                <a:solidFill>
                  <a:srgbClr val="0F172A"/>
                </a:solidFill>
              </a:rPr>
              <a:t>4. Correct and re-check</a:t>
            </a:r>
            <a:r>
              <a:rPr sz="1600" dirty="0"/>
              <a:t>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Use retrieved evidence to revise questionable claims and verify the corrected answer again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SYSTEM METHODOLOGY // STEP-BY-STEP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Proposed Methodology: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sz="1400"/>
              <a:t>A sequential, mathematically defined verification and self-correction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5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298448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01. </a:t>
            </a:r>
            <a:r>
              <a:rPr lang="en-IN" sz="1400" dirty="0"/>
              <a:t>INPUT</a:t>
            </a:r>
            <a:endParaRPr sz="1400" dirty="0"/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200" dirty="0">
                <a:solidFill>
                  <a:srgbClr val="0284C7"/>
                </a:solidFill>
                <a:latin typeface="Calibri"/>
              </a:rPr>
              <a:t>Receive an AI-generated answer or user-provided text.</a:t>
            </a:r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endParaRPr sz="1100" dirty="0"/>
          </a:p>
        </p:txBody>
      </p:sp>
      <p:sp>
        <p:nvSpPr>
          <p:cNvPr id="10" name="Right Arrow 9"/>
          <p:cNvSpPr/>
          <p:nvPr/>
        </p:nvSpPr>
        <p:spPr>
          <a:xfrm>
            <a:off x="2048256" y="2231136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ectangle 10"/>
          <p:cNvSpPr/>
          <p:nvPr/>
        </p:nvSpPr>
        <p:spPr>
          <a:xfrm>
            <a:off x="2286000" y="1645920"/>
            <a:ext cx="1298448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02. EXTRACT</a:t>
            </a:r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200" dirty="0">
                <a:solidFill>
                  <a:srgbClr val="0284C7"/>
                </a:solidFill>
                <a:latin typeface="Calibri"/>
              </a:rPr>
              <a:t>Split the answer into individual factual claims.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02736" y="2231136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Rectangle 12"/>
          <p:cNvSpPr/>
          <p:nvPr/>
        </p:nvSpPr>
        <p:spPr>
          <a:xfrm>
            <a:off x="3840480" y="1645920"/>
            <a:ext cx="1298448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03. RETRIEVE</a:t>
            </a:r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200" dirty="0">
                <a:solidFill>
                  <a:srgbClr val="0284C7"/>
                </a:solidFill>
                <a:latin typeface="Calibri"/>
              </a:rPr>
              <a:t>Search the evidence corpus for relevant passages using FAISS.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57216" y="2231136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Rectangle 14"/>
          <p:cNvSpPr/>
          <p:nvPr/>
        </p:nvSpPr>
        <p:spPr>
          <a:xfrm>
            <a:off x="5394960" y="1645920"/>
            <a:ext cx="1298448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04. </a:t>
            </a:r>
            <a:r>
              <a:rPr lang="en-IN" sz="1400" dirty="0"/>
              <a:t>VERIFY</a:t>
            </a:r>
            <a:endParaRPr lang="en-US" sz="1400" dirty="0"/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US" sz="1200" dirty="0">
                <a:solidFill>
                  <a:srgbClr val="0284C7"/>
                </a:solidFill>
                <a:latin typeface="Calibri"/>
              </a:rPr>
              <a:t>Compare each claim with the retrieved evidence using an NLI model.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11696" y="2231136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Rectangle 16"/>
          <p:cNvSpPr/>
          <p:nvPr/>
        </p:nvSpPr>
        <p:spPr>
          <a:xfrm>
            <a:off x="6949440" y="1645920"/>
            <a:ext cx="1298448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05. </a:t>
            </a:r>
            <a:r>
              <a:rPr lang="en-IN" sz="1400" dirty="0"/>
              <a:t>CLASSIFY</a:t>
            </a:r>
            <a:endParaRPr sz="1400" dirty="0"/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200" dirty="0">
                <a:solidFill>
                  <a:srgbClr val="0284C7"/>
                </a:solidFill>
                <a:latin typeface="Calibri"/>
              </a:rPr>
              <a:t>Label each claim as Supported, Contradicted, or Insufficient Evidence.</a:t>
            </a:r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endParaRPr sz="1100" dirty="0"/>
          </a:p>
        </p:txBody>
      </p:sp>
      <p:sp>
        <p:nvSpPr>
          <p:cNvPr id="18" name="Right Arrow 17"/>
          <p:cNvSpPr/>
          <p:nvPr/>
        </p:nvSpPr>
        <p:spPr>
          <a:xfrm>
            <a:off x="8266176" y="2231136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Rectangle 18"/>
          <p:cNvSpPr/>
          <p:nvPr/>
        </p:nvSpPr>
        <p:spPr>
          <a:xfrm>
            <a:off x="8503920" y="1645920"/>
            <a:ext cx="1298448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06. CORRECT</a:t>
            </a:r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200" dirty="0">
                <a:solidFill>
                  <a:srgbClr val="0284C7"/>
                </a:solidFill>
                <a:latin typeface="Calibri"/>
              </a:rPr>
              <a:t>Revise questionable claims using the available evidence.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20656" y="2231136"/>
            <a:ext cx="219456" cy="201168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Rectangle 20"/>
          <p:cNvSpPr/>
          <p:nvPr/>
        </p:nvSpPr>
        <p:spPr>
          <a:xfrm>
            <a:off x="10058400" y="1645920"/>
            <a:ext cx="1298448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07. </a:t>
            </a:r>
            <a:r>
              <a:rPr lang="en-IN" sz="1400" dirty="0"/>
              <a:t>RE-CHECK</a:t>
            </a:r>
            <a:endParaRPr sz="1400" dirty="0"/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200" dirty="0">
                <a:solidFill>
                  <a:srgbClr val="0284C7"/>
                </a:solidFill>
                <a:latin typeface="Calibri"/>
              </a:rPr>
              <a:t>Verify the corrected answer again before presenting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91840"/>
            <a:ext cx="5175504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3" name="TextBox 22"/>
          <p:cNvSpPr txBox="1"/>
          <p:nvPr/>
        </p:nvSpPr>
        <p:spPr>
          <a:xfrm>
            <a:off x="960120" y="3474720"/>
            <a:ext cx="47183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PHASE I: </a:t>
            </a:r>
            <a:r>
              <a:rPr lang="en-IN" sz="1600" b="1" dirty="0">
                <a:solidFill>
                  <a:srgbClr val="0284C7"/>
                </a:solidFill>
              </a:rPr>
              <a:t>CLAIMS AND EVIDENCE</a:t>
            </a:r>
            <a:endParaRPr sz="1600"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600" dirty="0"/>
              <a:t>•  </a:t>
            </a:r>
            <a:r>
              <a:rPr lang="en-IN" sz="1600" dirty="0">
                <a:solidFill>
                  <a:srgbClr val="475569"/>
                </a:solidFill>
              </a:rPr>
              <a:t>Extract individual factual claims</a:t>
            </a:r>
            <a:r>
              <a:rPr sz="1600" dirty="0"/>
              <a:t>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600" dirty="0"/>
              <a:t>•  </a:t>
            </a:r>
            <a:r>
              <a:rPr lang="en-IN" sz="1600" dirty="0">
                <a:solidFill>
                  <a:srgbClr val="475569"/>
                </a:solidFill>
              </a:rPr>
              <a:t>Retrieve relevant reference passages</a:t>
            </a:r>
            <a:r>
              <a:rPr sz="1600" dirty="0"/>
              <a:t>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600" dirty="0"/>
              <a:t>•  </a:t>
            </a:r>
            <a:r>
              <a:rPr lang="en-IN" sz="1600" dirty="0">
                <a:solidFill>
                  <a:srgbClr val="475569"/>
                </a:solidFill>
              </a:rPr>
              <a:t>Preserve source information for traceability</a:t>
            </a:r>
            <a:r>
              <a:rPr sz="1600" dirty="0"/>
              <a:t>.</a:t>
            </a:r>
            <a:endParaRPr lang="en-IN" sz="1600"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lang="en-IN" sz="1600" dirty="0"/>
              <a:t>•  </a:t>
            </a:r>
            <a:r>
              <a:rPr lang="en-IN" sz="1600" dirty="0">
                <a:solidFill>
                  <a:srgbClr val="475569"/>
                </a:solidFill>
              </a:rPr>
              <a:t>Compare each claim with its evidence.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3291840"/>
            <a:ext cx="5175504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5" name="TextBox 24"/>
          <p:cNvSpPr txBox="1"/>
          <p:nvPr/>
        </p:nvSpPr>
        <p:spPr>
          <a:xfrm>
            <a:off x="6501384" y="3474720"/>
            <a:ext cx="47183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rPr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PHASE II: </a:t>
            </a:r>
            <a:r>
              <a:rPr lang="en-IN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VERIFICATION &amp; </a:t>
            </a:r>
            <a:r>
              <a:rPr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CORRECTION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600" dirty="0"/>
              <a:t>•  </a:t>
            </a:r>
            <a:r>
              <a:rPr lang="en-IN" sz="1600" dirty="0">
                <a:solidFill>
                  <a:srgbClr val="475569"/>
                </a:solidFill>
              </a:rPr>
              <a:t>Classify claims based on evidence</a:t>
            </a:r>
            <a:r>
              <a:rPr sz="1600" dirty="0"/>
              <a:t>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600" dirty="0"/>
              <a:t>•  </a:t>
            </a:r>
            <a:r>
              <a:rPr lang="en-IN" sz="1600" dirty="0">
                <a:solidFill>
                  <a:srgbClr val="475569"/>
                </a:solidFill>
              </a:rPr>
              <a:t>Explain why each claim receives its label</a:t>
            </a:r>
            <a:r>
              <a:rPr sz="1600" dirty="0"/>
              <a:t>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600" dirty="0"/>
              <a:t>•  </a:t>
            </a:r>
            <a:r>
              <a:rPr lang="en-IN" sz="1600" dirty="0">
                <a:solidFill>
                  <a:srgbClr val="475569"/>
                </a:solidFill>
              </a:rPr>
              <a:t>Correct questionable claims where sufficient evidence exists</a:t>
            </a:r>
            <a:r>
              <a:rPr sz="1600" dirty="0"/>
              <a:t>.</a:t>
            </a:r>
            <a:endParaRPr lang="en-IN" sz="1600" dirty="0"/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lang="en-IN" sz="1600" dirty="0"/>
              <a:t>•  </a:t>
            </a:r>
            <a:r>
              <a:rPr lang="en-IN" sz="1600" dirty="0">
                <a:solidFill>
                  <a:srgbClr val="475569"/>
                </a:solidFill>
              </a:rPr>
              <a:t>Re-verify the corrected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SYSTEM DESIGN // NATIVE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/>
              <a:t>System Architecture &amp; Component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lang="en-IN" sz="1400" dirty="0">
                <a:solidFill>
                  <a:srgbClr val="475569"/>
                </a:solidFill>
                <a:latin typeface="Calibri"/>
              </a:rPr>
              <a:t>From input text to evidence-backed verification and correction</a:t>
            </a:r>
            <a:r>
              <a:rPr sz="14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6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0728655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35420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1200"/>
              <a:t>OFFLINE KNOWLEDGE INGESTION &amp; DUAL INDEXING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084832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200"/>
              <a:t>Reference Files</a:t>
            </a:r>
            <a:br>
              <a:rPr sz="1200"/>
            </a:br>
            <a:r>
              <a:rPr sz="1200"/>
              <a:t>PDF / DOCX / 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084832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200"/>
              <a:t>Semantic Chunker</a:t>
            </a:r>
            <a:br>
              <a:rPr sz="1200"/>
            </a:br>
            <a:r>
              <a:rPr sz="1200"/>
              <a:t>500 chars (100 overlap)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084832"/>
            <a:ext cx="22860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MiniLM-L6-v2 Embedder</a:t>
            </a:r>
            <a:br>
              <a:rPr sz="1200" dirty="0"/>
            </a:br>
            <a:r>
              <a:rPr sz="1200" dirty="0"/>
              <a:t>L2 Unit Norm (384-d)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084832"/>
            <a:ext cx="23774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200"/>
              <a:t>Dual Storage</a:t>
            </a:r>
            <a:br>
              <a:rPr sz="1200"/>
            </a:br>
            <a:r>
              <a:rPr sz="1200"/>
              <a:t>FAISS FlatIP + BM25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999232" y="2359152"/>
            <a:ext cx="4114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Right Arrow 15"/>
          <p:cNvSpPr/>
          <p:nvPr/>
        </p:nvSpPr>
        <p:spPr>
          <a:xfrm>
            <a:off x="5559552" y="2359152"/>
            <a:ext cx="4114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Right Arrow 16"/>
          <p:cNvSpPr/>
          <p:nvPr/>
        </p:nvSpPr>
        <p:spPr>
          <a:xfrm>
            <a:off x="8394192" y="2359152"/>
            <a:ext cx="4114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10728655" cy="2880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914400" y="3355848"/>
            <a:ext cx="22400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200" b="1" dirty="0"/>
              <a:t>MAIN ARCHITECTURE DIAGRAM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749040"/>
            <a:ext cx="21945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Input Query / Response</a:t>
            </a:r>
            <a:br>
              <a:rPr sz="1200" dirty="0"/>
            </a:br>
            <a:r>
              <a:rPr lang="en-IN" sz="1050" b="1" dirty="0">
                <a:solidFill>
                  <a:srgbClr val="0F172A"/>
                </a:solidFill>
                <a:latin typeface="Calibri"/>
              </a:rPr>
              <a:t>User-provided text or an AI-generated answer.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749040"/>
            <a:ext cx="21945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Claim Extraction</a:t>
            </a:r>
            <a:br>
              <a:rPr sz="1200" dirty="0"/>
            </a:br>
            <a:r>
              <a:rPr lang="en-IN" sz="1050" b="1" dirty="0">
                <a:solidFill>
                  <a:srgbClr val="0F172A"/>
                </a:solidFill>
                <a:latin typeface="Calibri"/>
              </a:rPr>
              <a:t>Break the answer into individual factual claims.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49040"/>
            <a:ext cx="21945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200" dirty="0"/>
              <a:t>Hybrid Evidence </a:t>
            </a:r>
            <a:r>
              <a:rPr lang="en-IN" sz="1200" dirty="0"/>
              <a:t>Retrieval</a:t>
            </a:r>
            <a:br>
              <a:rPr sz="1200" dirty="0"/>
            </a:br>
            <a:r>
              <a:rPr lang="en-IN" sz="1050" b="1" dirty="0">
                <a:solidFill>
                  <a:srgbClr val="0F172A"/>
                </a:solidFill>
                <a:latin typeface="Calibri"/>
              </a:rPr>
              <a:t>Search the available reference documents and retrieve relevant passages using FAISS.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749040"/>
            <a:ext cx="21945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lang="en-IN" sz="1200" dirty="0"/>
              <a:t>Claim Verification</a:t>
            </a:r>
          </a:p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lang="en-IN" sz="1050" b="1" dirty="0">
                <a:solidFill>
                  <a:srgbClr val="0F172A"/>
                </a:solidFill>
                <a:latin typeface="Calibri"/>
              </a:rPr>
              <a:t>Compare each claim with the retrieved evidence using Natural Language Inference (NLI).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82112" y="4069080"/>
            <a:ext cx="4114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Right Arrow 24"/>
          <p:cNvSpPr/>
          <p:nvPr/>
        </p:nvSpPr>
        <p:spPr>
          <a:xfrm>
            <a:off x="5925312" y="4069080"/>
            <a:ext cx="4114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Right Arrow 25"/>
          <p:cNvSpPr/>
          <p:nvPr/>
        </p:nvSpPr>
        <p:spPr>
          <a:xfrm>
            <a:off x="8668512" y="4069080"/>
            <a:ext cx="4114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Rectangle 26"/>
          <p:cNvSpPr/>
          <p:nvPr/>
        </p:nvSpPr>
        <p:spPr>
          <a:xfrm>
            <a:off x="914400" y="4937760"/>
            <a:ext cx="21945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lang="en-IN" sz="1200" dirty="0"/>
              <a:t>Verification Results</a:t>
            </a:r>
          </a:p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lang="en-IN" sz="1050" b="1" dirty="0">
                <a:solidFill>
                  <a:srgbClr val="0F172A"/>
                </a:solidFill>
                <a:latin typeface="Calibri"/>
              </a:rPr>
              <a:t>Supported</a:t>
            </a:r>
            <a:r>
              <a:rPr lang="en-IN" sz="1200" b="1" dirty="0">
                <a:solidFill>
                  <a:srgbClr val="0F172A"/>
                </a:solidFill>
                <a:latin typeface="Calibri"/>
              </a:rPr>
              <a:t>,</a:t>
            </a:r>
            <a:r>
              <a:rPr lang="en-IN" sz="1050" b="1" dirty="0">
                <a:solidFill>
                  <a:srgbClr val="0F172A"/>
                </a:solidFill>
                <a:latin typeface="Calibri"/>
              </a:rPr>
              <a:t> Contradicted, Insufficient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937760"/>
            <a:ext cx="21945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lang="en-IN" sz="1200" dirty="0"/>
              <a:t>Evidence-Grounded Correction</a:t>
            </a:r>
          </a:p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lang="en-IN" sz="1050" b="1" dirty="0">
                <a:solidFill>
                  <a:srgbClr val="0F172A"/>
                </a:solidFill>
                <a:latin typeface="Calibri"/>
              </a:rPr>
              <a:t>Revise contradicted or unsupported claims when sufficient evidence is available.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937760"/>
            <a:ext cx="21945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lang="en-IN" sz="1200" dirty="0"/>
              <a:t>Re-Verification</a:t>
            </a:r>
          </a:p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lang="en-IN" sz="1050" b="1" dirty="0">
                <a:solidFill>
                  <a:srgbClr val="0F172A"/>
                </a:solidFill>
                <a:latin typeface="Calibri"/>
              </a:rPr>
              <a:t>Check the corrected answer again and present the final result with evidence references.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182112" y="5257800"/>
            <a:ext cx="4114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Right Arrow 31"/>
          <p:cNvSpPr/>
          <p:nvPr/>
        </p:nvSpPr>
        <p:spPr>
          <a:xfrm>
            <a:off x="5925312" y="5257800"/>
            <a:ext cx="4114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Right Arrow 25">
            <a:extLst>
              <a:ext uri="{FF2B5EF4-FFF2-40B4-BE49-F238E27FC236}">
                <a16:creationId xmlns:a16="http://schemas.microsoft.com/office/drawing/2014/main" id="{8BC92B9C-3BEF-B953-906D-E15FA92B1698}"/>
              </a:ext>
            </a:extLst>
          </p:cNvPr>
          <p:cNvSpPr/>
          <p:nvPr/>
        </p:nvSpPr>
        <p:spPr>
          <a:xfrm>
            <a:off x="11277600" y="4069080"/>
            <a:ext cx="182575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7" name="Right Arrow 25">
            <a:extLst>
              <a:ext uri="{FF2B5EF4-FFF2-40B4-BE49-F238E27FC236}">
                <a16:creationId xmlns:a16="http://schemas.microsoft.com/office/drawing/2014/main" id="{16AAAC35-D1DC-6174-E24F-850662B2B8D6}"/>
              </a:ext>
            </a:extLst>
          </p:cNvPr>
          <p:cNvSpPr/>
          <p:nvPr/>
        </p:nvSpPr>
        <p:spPr>
          <a:xfrm>
            <a:off x="759104" y="5257800"/>
            <a:ext cx="182575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CLAIM EXTRACTION // SYNTACTIC NLP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Atomic Claim Decomposition &amp; Character Span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t>Deconstructing compound assertions into standalone testable propositions with exact string offsets.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7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0728655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362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rPr sz="1200"/>
              <a:t>EXAMPLE INPUT COMPOUND SENTENCE (EXACT STRING LENGTH: 76 CHARACTERS)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rPr sz="1200"/>
              <a:t>"Marie Curie discovered radium in 1898 and won the Nobel Prize in Literature."</a:t>
            </a:r>
          </a:p>
          <a:p>
            <a:pPr>
              <a:defRPr sz="1000">
                <a:solidFill>
                  <a:srgbClr val="0E7490"/>
                </a:solidFill>
                <a:latin typeface="Consolas"/>
              </a:defRPr>
            </a:pPr>
            <a:r>
              <a:rPr sz="1200"/>
              <a:t>   [Span 0:37: Factual Discovery Claim]          [Span 42:75: Fabricated Award Claim]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268422"/>
              </p:ext>
            </p:extLst>
          </p:nvPr>
        </p:nvGraphicFramePr>
        <p:xfrm>
          <a:off x="731520" y="2880360"/>
          <a:ext cx="10504294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6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Claim 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Original Substring Span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Normalized Standalone Proposition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Final Verdict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rPr sz="1400"/>
                        <a:t>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400"/>
                        <a:t>"Marie Curie discovered radium in 1898"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400"/>
                        <a:t>"Marie Curie discovered radium in 1898."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rPr sz="1400" dirty="0"/>
                        <a:t>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onsolas"/>
                        </a:defRPr>
                      </a:pPr>
                      <a:r>
                        <a:rPr sz="1400"/>
                        <a:t>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400"/>
                        <a:t>"won the Nobel Prize in Literature"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sz="1400"/>
                        <a:t>"Marie Curie won the Nobel Prize in Literature."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rPr sz="1400" dirty="0"/>
                        <a:t>CONTRADICTED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31520" y="4663440"/>
            <a:ext cx="3364992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29992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1400"/>
              <a:t>DEPENDENCY PARSING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Identifies coordinating conjunctions ('and', 'but', 'whereas') to split compound sentences into standalone grammatical clauses without semantic loss.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4663440"/>
            <a:ext cx="3364992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4590288" y="4800600"/>
            <a:ext cx="29992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1400"/>
              <a:t>ANAPHORA RESOLUTION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Resolves anaphoric pronouns ('she' ──► 'Marie Curie') so each extracted claim is fully self-contained for isolated retrieval and verification.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4663440"/>
            <a:ext cx="3364992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8266176" y="4800600"/>
            <a:ext cx="29992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rPr sz="1400"/>
              <a:t>PINPOINT SPAN MAPPING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Preserves exact [start_offset, end_offset] character positions. The UI highlights only the false phrase; verified facts remain completely untouched.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EVIDENCE RETRIEVAL // DENSE VECTOR &amp; KEYWORD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/>
              <a:t>Evidence Retrieval Using FAISS &amp; BM25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lang="en-IN" sz="1400" dirty="0">
                <a:solidFill>
                  <a:srgbClr val="475569"/>
                </a:solidFill>
                <a:latin typeface="Calibri"/>
              </a:rPr>
              <a:t>Finding relevant reference passages for each factual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8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698778" cy="39907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960119" y="1828800"/>
            <a:ext cx="532269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MATHEMATICAL RETRIEVAL PIPELINE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•  </a:t>
            </a:r>
            <a:r>
              <a:rPr lang="en-US" sz="1600" dirty="0"/>
              <a:t>Reference Documents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PDFs, text files, and other available evidence sources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•  </a:t>
            </a:r>
            <a:r>
              <a:rPr lang="en-US" sz="1600" dirty="0"/>
              <a:t>Text Chunking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Split documents into smaller passages for searching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•  </a:t>
            </a:r>
            <a:r>
              <a:rPr lang="en-US" sz="1600" dirty="0"/>
              <a:t>Embedding Generation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Convert passages into numerical vectors that represent their meaning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•  Sparse </a:t>
            </a:r>
            <a:r>
              <a:rPr lang="en-US" sz="1600" dirty="0"/>
              <a:t>FAISS Search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Compare the claim's vector with indexed passage vectors and retrieve the most relevant candidates</a:t>
            </a:r>
            <a:r>
              <a:rPr sz="1600" dirty="0"/>
              <a:t>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•  </a:t>
            </a:r>
            <a:r>
              <a:rPr lang="en-US" sz="1600" dirty="0"/>
              <a:t>Evidence Results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Return relevant passages with their source information for claim verification</a:t>
            </a:r>
            <a:r>
              <a:rPr sz="1600" dirty="0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756510-7C7E-A3DA-A686-C6E44790D559}"/>
              </a:ext>
            </a:extLst>
          </p:cNvPr>
          <p:cNvSpPr/>
          <p:nvPr/>
        </p:nvSpPr>
        <p:spPr>
          <a:xfrm>
            <a:off x="6902244" y="1666494"/>
            <a:ext cx="4458931" cy="239422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68CF7-D3AC-CAF7-981C-3990A7DCDC1B}"/>
              </a:ext>
            </a:extLst>
          </p:cNvPr>
          <p:cNvSpPr txBox="1"/>
          <p:nvPr/>
        </p:nvSpPr>
        <p:spPr>
          <a:xfrm>
            <a:off x="7034677" y="1829950"/>
            <a:ext cx="419720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n-IN" sz="1600" b="1" dirty="0">
                <a:solidFill>
                  <a:srgbClr val="0284C7"/>
                </a:solidFill>
              </a:rPr>
              <a:t>WHY THIS MATTERS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Semantic search:</a:t>
            </a:r>
            <a:r>
              <a:rPr lang="en-IN" sz="1600" dirty="0"/>
              <a:t> Finds passages with related meanings.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Evidence traceability:</a:t>
            </a:r>
            <a:r>
              <a:rPr lang="en-IN" sz="1600" dirty="0"/>
              <a:t> Preserves source information for inspection.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Better verification:</a:t>
            </a:r>
            <a:r>
              <a:rPr lang="en-IN" sz="1600" dirty="0"/>
              <a:t> Supplies candidate passages to the NLI model.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INFERENCE ARBITRATION // CROSS-ENCODER NLI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rPr dirty="0"/>
              <a:t>NLI-Based Claim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lang="en-IN" sz="1150" dirty="0">
                <a:solidFill>
                  <a:srgbClr val="475569"/>
                </a:solidFill>
                <a:latin typeface="Calibri"/>
              </a:rPr>
              <a:t>Comparing each claim with evidence to determine what the evidence tells 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9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19"/>
            <a:ext cx="5175504" cy="273742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7183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lang="en-IN" sz="1600" b="1" dirty="0">
                <a:solidFill>
                  <a:srgbClr val="0284C7"/>
                </a:solidFill>
              </a:rPr>
              <a:t>HOW VERIFICATION WORKS</a:t>
            </a:r>
            <a:endParaRPr sz="1600" dirty="0"/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•  </a:t>
            </a:r>
            <a:r>
              <a:rPr lang="en-US" sz="1600" dirty="0"/>
              <a:t>CLAIM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“Marie Curie was born in Paris in 1867.”</a:t>
            </a:r>
            <a:endParaRPr sz="1600" dirty="0"/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•  </a:t>
            </a:r>
            <a:r>
              <a:rPr lang="en-US" sz="1600" dirty="0"/>
              <a:t>Retrieved Evidence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IN" sz="1600" dirty="0">
                <a:solidFill>
                  <a:srgbClr val="475569"/>
                </a:solidFill>
              </a:rPr>
              <a:t>“Marie Curie was born in Warsaw, Poland, in 1867.”</a:t>
            </a:r>
            <a:endParaRPr sz="1600" dirty="0"/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600" dirty="0"/>
              <a:t>•  </a:t>
            </a:r>
            <a:r>
              <a:rPr lang="en-US" sz="1600" dirty="0"/>
              <a:t>Verification Result: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US" sz="1600" dirty="0"/>
              <a:t>	Contradicted</a:t>
            </a:r>
            <a:endParaRPr sz="1600" dirty="0"/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 </a:t>
            </a:r>
            <a:r>
              <a:rPr lang="en-US" sz="1600" dirty="0"/>
              <a:t>	</a:t>
            </a:r>
            <a:r>
              <a:rPr lang="en-IN" sz="1600" dirty="0">
                <a:solidFill>
                  <a:srgbClr val="475569"/>
                </a:solidFill>
              </a:rPr>
              <a:t>The evidence conflicts with the claimed birthplace</a:t>
            </a:r>
            <a:r>
              <a:rPr sz="16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645919"/>
            <a:ext cx="5175504" cy="287510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501384" y="1828800"/>
            <a:ext cx="47183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rPr sz="1600" dirty="0"/>
              <a:t>DECISION BOUNDARIES &amp; CALIBRATED CONFIDENCE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►  Supporte</a:t>
            </a:r>
            <a:r>
              <a:rPr lang="en-US" sz="1600" dirty="0"/>
              <a:t>d-Green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──► </a:t>
            </a:r>
            <a:r>
              <a:rPr lang="en-IN" sz="1600" dirty="0">
                <a:solidFill>
                  <a:srgbClr val="475569"/>
                </a:solidFill>
              </a:rPr>
              <a:t>The evidence agrees with the claim</a:t>
            </a:r>
            <a:r>
              <a:rPr sz="1600" dirty="0"/>
              <a:t>.</a:t>
            </a:r>
            <a:endParaRPr lang="en-US" sz="1600" dirty="0"/>
          </a:p>
          <a:p>
            <a:pPr>
              <a:defRPr sz="950">
                <a:solidFill>
                  <a:srgbClr val="475569"/>
                </a:solidFill>
              </a:defRPr>
            </a:pPr>
            <a:endParaRPr sz="1600" dirty="0"/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►  Contradicted</a:t>
            </a:r>
            <a:r>
              <a:rPr lang="en-US" sz="1600" dirty="0"/>
              <a:t>-Red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──► </a:t>
            </a:r>
            <a:r>
              <a:rPr lang="en-IN" sz="1600" dirty="0">
                <a:solidFill>
                  <a:srgbClr val="475569"/>
                </a:solidFill>
              </a:rPr>
              <a:t>The evidence conflicts with the claim</a:t>
            </a:r>
            <a:r>
              <a:rPr sz="1600" dirty="0"/>
              <a:t>.</a:t>
            </a:r>
            <a:endParaRPr lang="en-US" sz="1600" dirty="0"/>
          </a:p>
          <a:p>
            <a:pPr>
              <a:defRPr sz="950">
                <a:solidFill>
                  <a:srgbClr val="475569"/>
                </a:solidFill>
              </a:defRPr>
            </a:pPr>
            <a:endParaRPr sz="1600" dirty="0"/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600" dirty="0"/>
              <a:t>►  Insufficient Evidence</a:t>
            </a:r>
            <a:r>
              <a:rPr lang="en-US" sz="1600" dirty="0"/>
              <a:t>-Amber</a:t>
            </a:r>
            <a:r>
              <a:rPr sz="1600" dirty="0"/>
              <a:t>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600" dirty="0"/>
              <a:t>  ──► </a:t>
            </a:r>
            <a:r>
              <a:rPr lang="en-IN" sz="1600" dirty="0">
                <a:solidFill>
                  <a:srgbClr val="475569"/>
                </a:solidFill>
              </a:rPr>
              <a:t>The available evidence does not establish whether the claim is correct or incorrect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GROUNDED REVISION // CLOSED-LOOP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Evidence-Grounded Correction and Re-verification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lang="en-IN" sz="1150" dirty="0">
                <a:solidFill>
                  <a:srgbClr val="475569"/>
                </a:solidFill>
                <a:latin typeface="Calibri"/>
              </a:rPr>
              <a:t>Correct questionable claims using evidence, then check the answer again.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10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672" y="2087290"/>
            <a:ext cx="2395728" cy="131026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STEP 1: </a:t>
            </a:r>
            <a:r>
              <a:rPr lang="en-US" sz="1300" dirty="0"/>
              <a:t>IDENTIFY</a:t>
            </a:r>
            <a:endParaRPr sz="1300" dirty="0"/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300" b="1" dirty="0">
                <a:solidFill>
                  <a:srgbClr val="0284C7"/>
                </a:solidFill>
                <a:latin typeface="Calibri"/>
              </a:rPr>
              <a:t>Original claim:</a:t>
            </a:r>
            <a:r>
              <a:rPr lang="en-IN" sz="1300" dirty="0">
                <a:solidFill>
                  <a:srgbClr val="0284C7"/>
                </a:solidFill>
                <a:latin typeface="Calibri"/>
              </a:rPr>
              <a:t> “Marie Curie was born in Paris.”</a:t>
            </a:r>
            <a:br>
              <a:rPr sz="1300" dirty="0"/>
            </a:br>
            <a:r>
              <a:rPr lang="en-IN" sz="1300" dirty="0">
                <a:solidFill>
                  <a:srgbClr val="0284C7"/>
                </a:solidFill>
                <a:latin typeface="Calibri"/>
              </a:rPr>
              <a:t>The system flags this claim for verification</a:t>
            </a:r>
            <a:r>
              <a:rPr sz="1300" dirty="0"/>
              <a:t>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264" y="2678414"/>
            <a:ext cx="265176" cy="219456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1" name="Rectangle 10"/>
          <p:cNvSpPr/>
          <p:nvPr/>
        </p:nvSpPr>
        <p:spPr>
          <a:xfrm>
            <a:off x="3502304" y="2087290"/>
            <a:ext cx="2395728" cy="131026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STEP 2: </a:t>
            </a:r>
            <a:r>
              <a:rPr lang="en-US" sz="1300" dirty="0"/>
              <a:t>CHECK EVIDENCE</a:t>
            </a:r>
            <a:endParaRPr sz="1300" dirty="0"/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300" b="1" dirty="0">
                <a:solidFill>
                  <a:srgbClr val="0284C7"/>
                </a:solidFill>
                <a:latin typeface="Calibri"/>
              </a:rPr>
              <a:t>Reference evidence: </a:t>
            </a:r>
            <a:r>
              <a:rPr lang="en-IN" sz="1300" dirty="0">
                <a:solidFill>
                  <a:srgbClr val="0284C7"/>
                </a:solidFill>
                <a:latin typeface="Calibri"/>
              </a:rPr>
              <a:t>“Marie Curie was born in Warsaw, Poland.” </a:t>
            </a:r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300" dirty="0">
                <a:solidFill>
                  <a:srgbClr val="0284C7"/>
                </a:solidFill>
                <a:latin typeface="Calibri"/>
              </a:rPr>
              <a:t>Show the evidence beside the original claim</a:t>
            </a:r>
            <a:r>
              <a:rPr sz="1300" dirty="0"/>
              <a:t>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52896" y="2678414"/>
            <a:ext cx="265176" cy="219456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3" name="Rectangle 12"/>
          <p:cNvSpPr/>
          <p:nvPr/>
        </p:nvSpPr>
        <p:spPr>
          <a:xfrm>
            <a:off x="6272936" y="2087290"/>
            <a:ext cx="2395728" cy="131026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STEP 3: </a:t>
            </a:r>
            <a:r>
              <a:rPr lang="en-US" sz="1300" dirty="0"/>
              <a:t>CORRECT</a:t>
            </a:r>
            <a:endParaRPr sz="1300" dirty="0"/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lang="en-IN" sz="1300" b="1" dirty="0">
                <a:solidFill>
                  <a:srgbClr val="0284C7"/>
                </a:solidFill>
                <a:latin typeface="Calibri"/>
              </a:rPr>
              <a:t>Revised claim: </a:t>
            </a:r>
            <a:r>
              <a:rPr lang="en-IN" sz="1300" dirty="0">
                <a:solidFill>
                  <a:srgbClr val="0284C7"/>
                </a:solidFill>
                <a:latin typeface="Calibri"/>
              </a:rPr>
              <a:t>“Marie Curie was born in Warsaw, The correction uses the information in the reference evidence</a:t>
            </a:r>
            <a:r>
              <a:rPr sz="1300" dirty="0"/>
              <a:t>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23528" y="2678414"/>
            <a:ext cx="265176" cy="219456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5" name="Rectangle 14"/>
          <p:cNvSpPr/>
          <p:nvPr/>
        </p:nvSpPr>
        <p:spPr>
          <a:xfrm>
            <a:off x="9043568" y="2087290"/>
            <a:ext cx="2395728" cy="1310264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rPr sz="1300" dirty="0"/>
              <a:t>STEP 4: REVERIF</a:t>
            </a:r>
            <a:r>
              <a:rPr lang="en-US" sz="1300" dirty="0"/>
              <a:t>Y</a:t>
            </a:r>
            <a:endParaRPr sz="1300" dirty="0"/>
          </a:p>
          <a:p>
            <a:pPr algn="ctr">
              <a:defRPr sz="850">
                <a:solidFill>
                  <a:srgbClr val="0284C7"/>
                </a:solidFill>
                <a:latin typeface="Calibri"/>
              </a:defRPr>
            </a:pPr>
            <a:r>
              <a:rPr sz="1300" dirty="0"/>
              <a:t>Corrected response is re-fed</a:t>
            </a:r>
            <a:br>
              <a:rPr sz="1300" dirty="0"/>
            </a:br>
            <a:r>
              <a:rPr sz="1300" dirty="0"/>
              <a:t>through </a:t>
            </a:r>
            <a:r>
              <a:rPr sz="1300" dirty="0" err="1"/>
              <a:t>TruthGuard</a:t>
            </a:r>
            <a:r>
              <a:rPr sz="1300" dirty="0"/>
              <a:t> to verify</a:t>
            </a:r>
            <a:br>
              <a:rPr sz="1300" dirty="0"/>
            </a:br>
            <a:r>
              <a:rPr sz="1300" dirty="0"/>
              <a:t>0 remaining contradictions.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672" y="3565382"/>
            <a:ext cx="10728655" cy="145708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960272" y="3702542"/>
            <a:ext cx="103628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 dirty="0"/>
              <a:t>TRACED END-TO-END REVISION &amp; REVERIFICATION WALKTHROUGH</a:t>
            </a:r>
          </a:p>
          <a:p>
            <a:pPr lvl="0"/>
            <a:r>
              <a:rPr sz="1600" dirty="0"/>
              <a:t>• </a:t>
            </a:r>
            <a:r>
              <a:rPr lang="en-IN" sz="1600" b="1" dirty="0"/>
              <a:t>Evidence-based:</a:t>
            </a:r>
            <a:r>
              <a:rPr lang="en-IN" sz="1600" dirty="0"/>
              <a:t> Corrections must follow the available reference evidence.</a:t>
            </a:r>
          </a:p>
          <a:p>
            <a:pPr lvl="0"/>
            <a:r>
              <a:rPr lang="en-IN" sz="1600" dirty="0"/>
              <a:t>• </a:t>
            </a:r>
            <a:r>
              <a:rPr lang="en-IN" sz="1600" b="1" dirty="0"/>
              <a:t>Traceable:</a:t>
            </a:r>
            <a:r>
              <a:rPr lang="en-IN" sz="1600" dirty="0"/>
              <a:t> Users can inspect the evidence behind the revision.</a:t>
            </a:r>
          </a:p>
          <a:p>
            <a:pPr lvl="0"/>
            <a:r>
              <a:rPr lang="en-IN" sz="1600" dirty="0"/>
              <a:t>• </a:t>
            </a:r>
            <a:r>
              <a:rPr lang="en-IN" sz="1600" b="1" dirty="0"/>
              <a:t>Re-checked:</a:t>
            </a:r>
            <a:r>
              <a:rPr lang="en-IN" sz="1600" dirty="0"/>
              <a:t> The revised claim is verified again to help detect remaining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PROJECT APPRAISAL // SUMMARY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dirty="0"/>
              <a:t>Summary of verified project capabilities, acknowledged </a:t>
            </a:r>
            <a:r>
              <a:rPr sz="1400" dirty="0"/>
              <a:t>limitations</a:t>
            </a:r>
            <a:r>
              <a:rPr dirty="0"/>
              <a:t>, and future extensions.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13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175504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71830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rPr sz="1400"/>
              <a:t>VERIFIED PROJECT CAPABILITIES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400"/>
              <a:t>✓  Claim-Level Decomposition: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   Deconstructs compound sentences into atomic propositions with exact character-span offsets, enabling pinpoint user interface highlighting.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400"/>
              <a:t>✓  Hybrid FAISS + BM25 Retrieval: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   Fuses 384-dimensional dense semantic vectors with lexical keyword matching, achieving 100% Recall@3 on tested reference benchmarks.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400"/>
              <a:t>✓  Calibrated Cross-Encoder NLI: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   DeBERTa-v3 joint attention arbitrates multi-passage evidence into calibrated verdicts, achieving 90.0% accuracy on FEVER with 0.0% false negatives.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400"/>
              <a:t>✓  Closed-Loop Reverification: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   Eliminates secondary hallucinations through evidence-grounded prompt constraints followed by mandatory reverification.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645920"/>
            <a:ext cx="5175504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6501384" y="1828800"/>
            <a:ext cx="471830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400"/>
              <a:t>ACKNOWLEDGED LIMITATIONS &amp; FUTURE SCOPE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400"/>
              <a:t>►  Single-Hop Reasoning Boundary: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   Cross-encoder evaluates individual passages; cannot chain facts across distant chapters. Roadmap: Graph-RAG multi-hop reasoning.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400"/>
              <a:t>►  Static Decision Thresholds: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   Thresholds (0.55 / 0.50) are globally configured. Roadmap: Implement dynamic conformal prediction intervals per domain.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400"/>
              <a:t>►  Inference Acceleration: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   Current 296ms latency is suitable for desktop use, but ONNX INT8 runtime quantization will push verification below 100ms for edge deployment.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sz="1400"/>
              <a:t>►  Domain-Adaptive Fine-Tuning: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400"/>
              <a:t>   Continual pre-training of DeBERTa-v3 on specialized clinical, legal, and financial hallucination corpora.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ACADEMIC CITATIONS // 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Calibri"/>
              </a:defRPr>
            </a:pPr>
            <a:r>
              <a:rPr sz="1200"/>
              <a:t>Key peer-reviewed literature in hallucination detection, natural language inference, and dense retrieval.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TruthGuard: Explainable Hallucination Detection &amp; Verification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1375" y="638251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0284C7"/>
                </a:solidFill>
                <a:latin typeface="Calibri"/>
              </a:defRPr>
            </a:pPr>
            <a:r>
              <a:t>Slide 14 of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1800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200"/>
              <a:t>CORE RESEARCH LITERATURE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/>
              <a:t>[1]  Thorne, J., Vlachos, A., Christodoulopoulos, C., &amp; Mittal, A. (2018). FEVER: a large-scale dataset for Fact Extraction and VERification. In Proceedings of NAACL-HLT 2018 (pp. 809–819). Association for Computational Linguistics.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/>
              <a:t>[2]  Li, J., Cheng, X., Zhao, W. X., Nie, J. Y., &amp; Wen, J. R. (2023). HaluEval: A Large-Scale Hallucination Evaluation Benchmark for Large Language Models. In Proceedings of EMNLP 2023 (pp. 6449–6464). Association for Computational Linguistics.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/>
              <a:t>[3]  Johnson, J., Douze, M., &amp; Jégou, H. (2019). Billion-scale similarity search with GPUs. IEEE Transactions on Big Data, 7(3), 535–547. IEEE Computer Society.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/>
              <a:t>[4]  Reimers, N., &amp; Gurevych, I. (2019). Sentence-BERT: Sentence Embeddings using Siamese BERT-Networks. In Proceedings of EMNLP-IJCNLP 2019 (pp. 3982–3992). Association for Computational Linguistics.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/>
              <a:t>[5]  He, P., Liu, X., Gao, J., &amp; Chen, W. (2021). DeBERTa: Decoding-enhanced BERT with Disentangled Attention. In Proceedings of the 9th International Conference on Learning Representations (ICLR 2021).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rPr sz="1200"/>
              <a:t>[6]  Ji, Z., Lee, N., Frieske, R., Yu, T., Su, D., Yan, X., Ishii, E., Bang, Y. J., Madotto, A., &amp; Fung, P. (2023). Survey of hallucination in natural language generation. ACM Computing Surveys, 55(12), 1–38. ACM.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94790" y="1143000"/>
            <a:ext cx="96012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1990" y="1691640"/>
            <a:ext cx="8686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DEFENSE CONCLUSION // OPEN DISCUSSION</a:t>
            </a:r>
          </a:p>
          <a:p>
            <a:pPr algn="ctr">
              <a:defRPr sz="3800" b="1">
                <a:solidFill>
                  <a:srgbClr val="0F172A"/>
                </a:solidFill>
              </a:defRPr>
            </a:pPr>
            <a:r>
              <a:t>Questions &amp; Answers</a:t>
            </a:r>
          </a:p>
          <a:p>
            <a:pPr algn="ctr">
              <a:defRPr sz="1500" b="1">
                <a:solidFill>
                  <a:srgbClr val="0284C7"/>
                </a:solidFill>
              </a:defRPr>
            </a:pPr>
            <a:r>
              <a:t>TruthGuard: Explainable Hallucination Detection &amp; Verification Framework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br/>
            <a:r>
              <a:t>"Fluency cannot replace evidence. TruthGuard demonstrates that real-time, explainable hallucination detection and closed-loop self-correction are achievable on consumer hardware in under 300 milliseconds."</a:t>
            </a:r>
            <a:br/>
            <a:endParaRPr/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Candidate: Bharathram K (Reg. No: E0324006)  •  Supervisor: Dr. Suja Golden Shiny S  •  SRIHER Chennai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3385</Words>
  <Application>Microsoft Office PowerPoint</Application>
  <PresentationFormat>Widescreen</PresentationFormat>
  <Paragraphs>323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sesha bharath</cp:lastModifiedBy>
  <cp:revision>9</cp:revision>
  <dcterms:created xsi:type="dcterms:W3CDTF">2013-01-27T09:14:16Z</dcterms:created>
  <dcterms:modified xsi:type="dcterms:W3CDTF">2026-10-23T10:40:57Z</dcterms:modified>
  <cp:category/>
</cp:coreProperties>
</file>